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1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0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81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3CA7-C1CB-42D2-A477-53A53028BDEA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E7D10-78BB-4AAC-89EF-123825D11B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8461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3CA7-C1CB-42D2-A477-53A53028BDEA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E7D10-78BB-4AAC-89EF-123825D11B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8829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3CA7-C1CB-42D2-A477-53A53028BDEA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E7D10-78BB-4AAC-89EF-123825D11B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0140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3CA7-C1CB-42D2-A477-53A53028BDEA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E7D10-78BB-4AAC-89EF-123825D11B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5064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3CA7-C1CB-42D2-A477-53A53028BDEA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E7D10-78BB-4AAC-89EF-123825D11B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9459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3CA7-C1CB-42D2-A477-53A53028BDEA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E7D10-78BB-4AAC-89EF-123825D11B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7064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3CA7-C1CB-42D2-A477-53A53028BDEA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E7D10-78BB-4AAC-89EF-123825D11B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0702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3CA7-C1CB-42D2-A477-53A53028BDEA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E7D10-78BB-4AAC-89EF-123825D11B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3199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3CA7-C1CB-42D2-A477-53A53028BDEA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E7D10-78BB-4AAC-89EF-123825D11B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0430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3CA7-C1CB-42D2-A477-53A53028BDEA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E7D10-78BB-4AAC-89EF-123825D11B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8197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3CA7-C1CB-42D2-A477-53A53028BDEA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E7D10-78BB-4AAC-89EF-123825D11B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8167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DA34-63E7-4EFC-94C2-C65295231CC1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538BE-79F2-49DF-8C7D-0FB4F712A1E3}" type="slidenum">
              <a:rPr lang="fr-FR" smtClean="0"/>
              <a:t>‹N°›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95935B47-AA16-4B7C-8E6E-0D50DBBE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930937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C3CA7-C1CB-42D2-A477-53A53028BDEA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3E7D10-78BB-4AAC-89EF-123825D11B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995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DEBA9A2C-D825-4096-9D10-9B04DF28833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69269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800" b="1" dirty="0" err="1">
                <a:solidFill>
                  <a:srgbClr val="002060"/>
                </a:solidFill>
              </a:rPr>
              <a:t>ISfinder</a:t>
            </a:r>
            <a:endParaRPr lang="fr-FR" sz="3800" b="1" dirty="0">
              <a:solidFill>
                <a:srgbClr val="002060"/>
              </a:solidFill>
            </a:endParaRP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AA10CDFE-FCB3-4132-A0A5-4F4A855D046F}"/>
              </a:ext>
            </a:extLst>
          </p:cNvPr>
          <p:cNvGrpSpPr/>
          <p:nvPr/>
        </p:nvGrpSpPr>
        <p:grpSpPr>
          <a:xfrm>
            <a:off x="0" y="593386"/>
            <a:ext cx="5661499" cy="188068"/>
            <a:chOff x="0" y="593386"/>
            <a:chExt cx="5661499" cy="188068"/>
          </a:xfrm>
          <a:solidFill>
            <a:srgbClr val="8EA276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0D51BAB-5C2C-4695-B1D8-EB189DD4A008}"/>
                </a:ext>
              </a:extLst>
            </p:cNvPr>
            <p:cNvSpPr/>
            <p:nvPr/>
          </p:nvSpPr>
          <p:spPr>
            <a:xfrm>
              <a:off x="0" y="625812"/>
              <a:ext cx="5564222" cy="12321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4056E399-EEA3-4D0C-9739-B74DB066FEC4}"/>
                </a:ext>
              </a:extLst>
            </p:cNvPr>
            <p:cNvSpPr/>
            <p:nvPr/>
          </p:nvSpPr>
          <p:spPr>
            <a:xfrm>
              <a:off x="5466945" y="593386"/>
              <a:ext cx="194554" cy="1880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sp>
        <p:nvSpPr>
          <p:cNvPr id="11" name="ZoneTexte 10">
            <a:extLst>
              <a:ext uri="{FF2B5EF4-FFF2-40B4-BE49-F238E27FC236}">
                <a16:creationId xmlns:a16="http://schemas.microsoft.com/office/drawing/2014/main" id="{8620714C-27A9-41CB-A15A-5C71F867EE6D}"/>
              </a:ext>
            </a:extLst>
          </p:cNvPr>
          <p:cNvSpPr txBox="1"/>
          <p:nvPr/>
        </p:nvSpPr>
        <p:spPr>
          <a:xfrm>
            <a:off x="0" y="749540"/>
            <a:ext cx="3184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2060"/>
                </a:solidFill>
              </a:rPr>
              <a:t>Architecture du site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E14427F-FC2B-4356-B3A9-FB69157DD6AB}"/>
              </a:ext>
            </a:extLst>
          </p:cNvPr>
          <p:cNvSpPr txBox="1"/>
          <p:nvPr/>
        </p:nvSpPr>
        <p:spPr>
          <a:xfrm>
            <a:off x="1179260" y="1218721"/>
            <a:ext cx="1456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2060"/>
                </a:solidFill>
              </a:rPr>
              <a:t>Actuellement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7B749470-CED2-4A77-AF0E-04B7497DF7A3}"/>
              </a:ext>
            </a:extLst>
          </p:cNvPr>
          <p:cNvSpPr txBox="1"/>
          <p:nvPr/>
        </p:nvSpPr>
        <p:spPr>
          <a:xfrm>
            <a:off x="5779640" y="1218721"/>
            <a:ext cx="2254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2060"/>
                </a:solidFill>
              </a:rPr>
              <a:t>Objectif du stage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C004726E-CAC9-4EAD-9D39-AC03C72736ED}"/>
              </a:ext>
            </a:extLst>
          </p:cNvPr>
          <p:cNvCxnSpPr>
            <a:cxnSpLocks/>
          </p:cNvCxnSpPr>
          <p:nvPr/>
        </p:nvCxnSpPr>
        <p:spPr>
          <a:xfrm>
            <a:off x="4452182" y="1129323"/>
            <a:ext cx="75680" cy="55547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5EF8E3B2-BBD3-4836-A142-1B23D20605C5}"/>
              </a:ext>
            </a:extLst>
          </p:cNvPr>
          <p:cNvSpPr txBox="1"/>
          <p:nvPr/>
        </p:nvSpPr>
        <p:spPr>
          <a:xfrm>
            <a:off x="4527862" y="4437270"/>
            <a:ext cx="461613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1- Soumission externe du site web vers une base temporaire</a:t>
            </a:r>
          </a:p>
          <a:p>
            <a:r>
              <a:rPr lang="fr-FR" sz="1000" dirty="0"/>
              <a:t>	- des soumissions d’IS </a:t>
            </a:r>
          </a:p>
          <a:p>
            <a:r>
              <a:rPr lang="fr-FR" sz="1000" dirty="0"/>
              <a:t>	- des demandes de noms de séquences</a:t>
            </a:r>
          </a:p>
          <a:p>
            <a:endParaRPr lang="fr-FR" sz="1000" dirty="0"/>
          </a:p>
          <a:p>
            <a:r>
              <a:rPr lang="fr-FR" sz="1000" dirty="0"/>
              <a:t>2- Vérification des données soumises par le gestionnaire de BDD</a:t>
            </a:r>
          </a:p>
          <a:p>
            <a:endParaRPr lang="fr-FR" sz="1000" dirty="0"/>
          </a:p>
          <a:p>
            <a:r>
              <a:rPr lang="fr-FR" sz="1000" dirty="0"/>
              <a:t>3- A partir du serveur interne, les soumissions sont envoyées vers la base </a:t>
            </a:r>
            <a:r>
              <a:rPr lang="fr-FR" sz="1000" dirty="0" err="1"/>
              <a:t>Issubmit</a:t>
            </a:r>
            <a:endParaRPr lang="fr-FR" sz="1000" dirty="0"/>
          </a:p>
          <a:p>
            <a:endParaRPr lang="fr-FR" sz="1000" dirty="0"/>
          </a:p>
          <a:p>
            <a:r>
              <a:rPr lang="fr-FR" sz="1000" dirty="0"/>
              <a:t>4- Validation des séquences dans la base </a:t>
            </a:r>
            <a:r>
              <a:rPr lang="fr-FR" sz="1000" dirty="0" err="1"/>
              <a:t>ISsubmit</a:t>
            </a:r>
            <a:r>
              <a:rPr lang="fr-FR" sz="1000" dirty="0"/>
              <a:t> via un site </a:t>
            </a:r>
            <a:r>
              <a:rPr lang="fr-FR" sz="1000" dirty="0" err="1"/>
              <a:t>ISadmin</a:t>
            </a:r>
            <a:endParaRPr lang="fr-FR" sz="1000" dirty="0"/>
          </a:p>
          <a:p>
            <a:r>
              <a:rPr lang="fr-FR" sz="1000" dirty="0"/>
              <a:t>	- soit elles restent dans </a:t>
            </a:r>
            <a:r>
              <a:rPr lang="fr-FR" sz="1000" dirty="0" err="1"/>
              <a:t>ISsubmit</a:t>
            </a:r>
            <a:endParaRPr lang="fr-FR" sz="1000" dirty="0"/>
          </a:p>
          <a:p>
            <a:endParaRPr lang="fr-FR" sz="1000" dirty="0"/>
          </a:p>
          <a:p>
            <a:r>
              <a:rPr lang="fr-FR" sz="1000" dirty="0"/>
              <a:t>5- soit elles sont envoyées vers </a:t>
            </a:r>
            <a:r>
              <a:rPr lang="fr-FR" sz="1000" dirty="0" err="1"/>
              <a:t>ISfinder</a:t>
            </a:r>
            <a:r>
              <a:rPr lang="fr-FR" sz="1000" dirty="0"/>
              <a:t> </a:t>
            </a:r>
          </a:p>
          <a:p>
            <a:endParaRPr lang="fr-FR" sz="1000" dirty="0"/>
          </a:p>
          <a:p>
            <a:r>
              <a:rPr lang="fr-FR" sz="1000" dirty="0"/>
              <a:t>6- Réplication de la base interne sur le site web</a:t>
            </a:r>
          </a:p>
        </p:txBody>
      </p: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A2CF3B68-A0F5-46B1-904B-05F01F327400}"/>
              </a:ext>
            </a:extLst>
          </p:cNvPr>
          <p:cNvGrpSpPr/>
          <p:nvPr/>
        </p:nvGrpSpPr>
        <p:grpSpPr>
          <a:xfrm>
            <a:off x="4666159" y="1816191"/>
            <a:ext cx="4228746" cy="2429759"/>
            <a:chOff x="4666159" y="2005376"/>
            <a:chExt cx="4228746" cy="2429759"/>
          </a:xfrm>
        </p:grpSpPr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21252D16-F691-4384-B9FD-93A7B4262531}"/>
                </a:ext>
              </a:extLst>
            </p:cNvPr>
            <p:cNvCxnSpPr>
              <a:cxnSpLocks/>
            </p:cNvCxnSpPr>
            <p:nvPr/>
          </p:nvCxnSpPr>
          <p:spPr>
            <a:xfrm>
              <a:off x="6861152" y="2213477"/>
              <a:ext cx="0" cy="2221658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588E302F-EB11-4FE4-9E11-36331A07B2F9}"/>
                </a:ext>
              </a:extLst>
            </p:cNvPr>
            <p:cNvSpPr txBox="1"/>
            <p:nvPr/>
          </p:nvSpPr>
          <p:spPr>
            <a:xfrm>
              <a:off x="4944065" y="2005376"/>
              <a:ext cx="13926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Serveur externe</a:t>
              </a:r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885EB099-F3A3-4032-8B3A-4129212C33AA}"/>
                </a:ext>
              </a:extLst>
            </p:cNvPr>
            <p:cNvSpPr txBox="1"/>
            <p:nvPr/>
          </p:nvSpPr>
          <p:spPr>
            <a:xfrm>
              <a:off x="7284716" y="2012734"/>
              <a:ext cx="13926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Serveur interne</a:t>
              </a:r>
            </a:p>
          </p:txBody>
        </p: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D5149D99-4CD1-4B53-BE23-6762F3509618}"/>
                </a:ext>
              </a:extLst>
            </p:cNvPr>
            <p:cNvSpPr txBox="1"/>
            <p:nvPr/>
          </p:nvSpPr>
          <p:spPr>
            <a:xfrm>
              <a:off x="7432387" y="2804733"/>
              <a:ext cx="1097280" cy="369332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err="1"/>
                <a:t>ISsubmit</a:t>
              </a:r>
              <a:endParaRPr lang="fr-FR" dirty="0"/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E09110BD-F0C8-45C5-99AC-928F96C7F460}"/>
                </a:ext>
              </a:extLst>
            </p:cNvPr>
            <p:cNvSpPr txBox="1"/>
            <p:nvPr/>
          </p:nvSpPr>
          <p:spPr>
            <a:xfrm>
              <a:off x="7432387" y="3697637"/>
              <a:ext cx="1097280" cy="369332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err="1"/>
                <a:t>ISfinder</a:t>
              </a:r>
              <a:endParaRPr lang="fr-FR" dirty="0"/>
            </a:p>
          </p:txBody>
        </p:sp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330D2871-41E2-420E-82D1-D31E31A0E3CF}"/>
                </a:ext>
              </a:extLst>
            </p:cNvPr>
            <p:cNvSpPr txBox="1"/>
            <p:nvPr/>
          </p:nvSpPr>
          <p:spPr>
            <a:xfrm>
              <a:off x="5112859" y="2804733"/>
              <a:ext cx="1097280" cy="369332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err="1"/>
                <a:t>ISfinder</a:t>
              </a:r>
              <a:endParaRPr lang="fr-FR" dirty="0"/>
            </a:p>
          </p:txBody>
        </p: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C510935E-A57C-40D6-90FC-38B835907098}"/>
                </a:ext>
              </a:extLst>
            </p:cNvPr>
            <p:cNvSpPr txBox="1"/>
            <p:nvPr/>
          </p:nvSpPr>
          <p:spPr>
            <a:xfrm>
              <a:off x="5112859" y="3813513"/>
              <a:ext cx="1097280" cy="553998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err="1"/>
                <a:t>ISsubmit</a:t>
              </a:r>
              <a:endParaRPr lang="fr-FR" dirty="0"/>
            </a:p>
            <a:p>
              <a:pPr algn="ctr"/>
              <a:r>
                <a:rPr lang="fr-FR" sz="1200" dirty="0"/>
                <a:t>temporaire</a:t>
              </a:r>
            </a:p>
          </p:txBody>
        </p:sp>
        <p:cxnSp>
          <p:nvCxnSpPr>
            <p:cNvPr id="34" name="Connecteur droit avec flèche 33">
              <a:extLst>
                <a:ext uri="{FF2B5EF4-FFF2-40B4-BE49-F238E27FC236}">
                  <a16:creationId xmlns:a16="http://schemas.microsoft.com/office/drawing/2014/main" id="{76465DBE-EAE0-46D3-BB9A-A465D4123B3C}"/>
                </a:ext>
              </a:extLst>
            </p:cNvPr>
            <p:cNvCxnSpPr/>
            <p:nvPr/>
          </p:nvCxnSpPr>
          <p:spPr>
            <a:xfrm>
              <a:off x="5640376" y="3235086"/>
              <a:ext cx="0" cy="510803"/>
            </a:xfrm>
            <a:prstGeom prst="straightConnector1">
              <a:avLst/>
            </a:prstGeom>
            <a:ln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eur droit avec flèche 44">
              <a:extLst>
                <a:ext uri="{FF2B5EF4-FFF2-40B4-BE49-F238E27FC236}">
                  <a16:creationId xmlns:a16="http://schemas.microsoft.com/office/drawing/2014/main" id="{FA35180F-4391-4A81-8AA5-7105069B1F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10139" y="3124393"/>
              <a:ext cx="1222248" cy="689120"/>
            </a:xfrm>
            <a:prstGeom prst="straightConnector1">
              <a:avLst/>
            </a:prstGeom>
            <a:ln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eur droit avec flèche 47">
              <a:extLst>
                <a:ext uri="{FF2B5EF4-FFF2-40B4-BE49-F238E27FC236}">
                  <a16:creationId xmlns:a16="http://schemas.microsoft.com/office/drawing/2014/main" id="{5621C879-7908-46F7-A142-37B38DAE305B}"/>
                </a:ext>
              </a:extLst>
            </p:cNvPr>
            <p:cNvCxnSpPr/>
            <p:nvPr/>
          </p:nvCxnSpPr>
          <p:spPr>
            <a:xfrm>
              <a:off x="7981027" y="3188840"/>
              <a:ext cx="0" cy="510803"/>
            </a:xfrm>
            <a:prstGeom prst="straightConnector1">
              <a:avLst/>
            </a:prstGeom>
            <a:ln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eur droit avec flèche 48">
              <a:extLst>
                <a:ext uri="{FF2B5EF4-FFF2-40B4-BE49-F238E27FC236}">
                  <a16:creationId xmlns:a16="http://schemas.microsoft.com/office/drawing/2014/main" id="{3A84A3FA-74F8-47FB-8566-2E1B182530E1}"/>
                </a:ext>
              </a:extLst>
            </p:cNvPr>
            <p:cNvCxnSpPr>
              <a:cxnSpLocks/>
              <a:endCxn id="40" idx="3"/>
            </p:cNvCxnSpPr>
            <p:nvPr/>
          </p:nvCxnSpPr>
          <p:spPr>
            <a:xfrm flipH="1" flipV="1">
              <a:off x="6210139" y="2989399"/>
              <a:ext cx="1222248" cy="869256"/>
            </a:xfrm>
            <a:prstGeom prst="straightConnector1">
              <a:avLst/>
            </a:prstGeom>
            <a:ln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06455B1B-5372-4E1E-B793-514A657A55A6}"/>
                </a:ext>
              </a:extLst>
            </p:cNvPr>
            <p:cNvSpPr txBox="1"/>
            <p:nvPr/>
          </p:nvSpPr>
          <p:spPr>
            <a:xfrm>
              <a:off x="5375515" y="3322332"/>
              <a:ext cx="2648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51" name="Flèche : courbe vers la droite 50">
              <a:extLst>
                <a:ext uri="{FF2B5EF4-FFF2-40B4-BE49-F238E27FC236}">
                  <a16:creationId xmlns:a16="http://schemas.microsoft.com/office/drawing/2014/main" id="{DB427CEA-4090-4D55-92FA-B1C625F04B12}"/>
                </a:ext>
              </a:extLst>
            </p:cNvPr>
            <p:cNvSpPr/>
            <p:nvPr/>
          </p:nvSpPr>
          <p:spPr>
            <a:xfrm>
              <a:off x="4766452" y="4065803"/>
              <a:ext cx="349459" cy="369332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55" name="ZoneTexte 54">
              <a:extLst>
                <a:ext uri="{FF2B5EF4-FFF2-40B4-BE49-F238E27FC236}">
                  <a16:creationId xmlns:a16="http://schemas.microsoft.com/office/drawing/2014/main" id="{DFC117A9-314D-4706-A299-5544290F580A}"/>
                </a:ext>
              </a:extLst>
            </p:cNvPr>
            <p:cNvSpPr txBox="1"/>
            <p:nvPr/>
          </p:nvSpPr>
          <p:spPr>
            <a:xfrm>
              <a:off x="4666159" y="3813513"/>
              <a:ext cx="2648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56" name="ZoneTexte 55">
              <a:extLst>
                <a:ext uri="{FF2B5EF4-FFF2-40B4-BE49-F238E27FC236}">
                  <a16:creationId xmlns:a16="http://schemas.microsoft.com/office/drawing/2014/main" id="{F7171F06-8314-47AA-9F4B-9702E1AE363E}"/>
                </a:ext>
              </a:extLst>
            </p:cNvPr>
            <p:cNvSpPr txBox="1"/>
            <p:nvPr/>
          </p:nvSpPr>
          <p:spPr>
            <a:xfrm>
              <a:off x="6930521" y="3011690"/>
              <a:ext cx="2648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rgbClr val="002060"/>
                  </a:solidFill>
                </a:rPr>
                <a:t>3</a:t>
              </a:r>
            </a:p>
          </p:txBody>
        </p:sp>
        <p:sp>
          <p:nvSpPr>
            <p:cNvPr id="57" name="ZoneTexte 56">
              <a:extLst>
                <a:ext uri="{FF2B5EF4-FFF2-40B4-BE49-F238E27FC236}">
                  <a16:creationId xmlns:a16="http://schemas.microsoft.com/office/drawing/2014/main" id="{8C703690-FAF2-4C5D-938E-01C69D947778}"/>
                </a:ext>
              </a:extLst>
            </p:cNvPr>
            <p:cNvSpPr txBox="1"/>
            <p:nvPr/>
          </p:nvSpPr>
          <p:spPr>
            <a:xfrm>
              <a:off x="8601664" y="2586690"/>
              <a:ext cx="2648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rgbClr val="002060"/>
                  </a:solidFill>
                </a:rPr>
                <a:t>4</a:t>
              </a:r>
            </a:p>
          </p:txBody>
        </p:sp>
        <p:sp>
          <p:nvSpPr>
            <p:cNvPr id="58" name="Flèche : courbe vers la droite 57">
              <a:extLst>
                <a:ext uri="{FF2B5EF4-FFF2-40B4-BE49-F238E27FC236}">
                  <a16:creationId xmlns:a16="http://schemas.microsoft.com/office/drawing/2014/main" id="{5A89ED00-DE5D-4C54-A6C6-7F8CAA156180}"/>
                </a:ext>
              </a:extLst>
            </p:cNvPr>
            <p:cNvSpPr/>
            <p:nvPr/>
          </p:nvSpPr>
          <p:spPr>
            <a:xfrm flipH="1">
              <a:off x="8545446" y="2860878"/>
              <a:ext cx="349459" cy="369332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60" name="ZoneTexte 59">
              <a:extLst>
                <a:ext uri="{FF2B5EF4-FFF2-40B4-BE49-F238E27FC236}">
                  <a16:creationId xmlns:a16="http://schemas.microsoft.com/office/drawing/2014/main" id="{B2FDA0F6-4602-493F-A7D9-FC5328D566BB}"/>
                </a:ext>
              </a:extLst>
            </p:cNvPr>
            <p:cNvSpPr txBox="1"/>
            <p:nvPr/>
          </p:nvSpPr>
          <p:spPr>
            <a:xfrm>
              <a:off x="7998375" y="3305741"/>
              <a:ext cx="2648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rgbClr val="002060"/>
                  </a:solidFill>
                </a:rPr>
                <a:t>5</a:t>
              </a:r>
            </a:p>
          </p:txBody>
        </p:sp>
        <p:sp>
          <p:nvSpPr>
            <p:cNvPr id="61" name="ZoneTexte 60">
              <a:extLst>
                <a:ext uri="{FF2B5EF4-FFF2-40B4-BE49-F238E27FC236}">
                  <a16:creationId xmlns:a16="http://schemas.microsoft.com/office/drawing/2014/main" id="{0E2DD956-6D03-4E1B-8C2A-C0496917497A}"/>
                </a:ext>
              </a:extLst>
            </p:cNvPr>
            <p:cNvSpPr txBox="1"/>
            <p:nvPr/>
          </p:nvSpPr>
          <p:spPr>
            <a:xfrm>
              <a:off x="6352028" y="2897066"/>
              <a:ext cx="2648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rgbClr val="002060"/>
                  </a:solidFill>
                </a:rPr>
                <a:t>6</a:t>
              </a:r>
            </a:p>
          </p:txBody>
        </p:sp>
      </p:grpSp>
      <p:grpSp>
        <p:nvGrpSpPr>
          <p:cNvPr id="65" name="Groupe 64">
            <a:extLst>
              <a:ext uri="{FF2B5EF4-FFF2-40B4-BE49-F238E27FC236}">
                <a16:creationId xmlns:a16="http://schemas.microsoft.com/office/drawing/2014/main" id="{D3E7E3DA-9E65-422D-9DAB-3AA700D93272}"/>
              </a:ext>
            </a:extLst>
          </p:cNvPr>
          <p:cNvGrpSpPr/>
          <p:nvPr/>
        </p:nvGrpSpPr>
        <p:grpSpPr>
          <a:xfrm>
            <a:off x="395082" y="1804211"/>
            <a:ext cx="3950840" cy="2429759"/>
            <a:chOff x="4944065" y="2005376"/>
            <a:chExt cx="3950840" cy="2429759"/>
          </a:xfrm>
        </p:grpSpPr>
        <p:cxnSp>
          <p:nvCxnSpPr>
            <p:cNvPr id="66" name="Connecteur droit 65">
              <a:extLst>
                <a:ext uri="{FF2B5EF4-FFF2-40B4-BE49-F238E27FC236}">
                  <a16:creationId xmlns:a16="http://schemas.microsoft.com/office/drawing/2014/main" id="{DBABF609-4D71-4AB5-BCE9-7DF5EA07210C}"/>
                </a:ext>
              </a:extLst>
            </p:cNvPr>
            <p:cNvCxnSpPr>
              <a:cxnSpLocks/>
            </p:cNvCxnSpPr>
            <p:nvPr/>
          </p:nvCxnSpPr>
          <p:spPr>
            <a:xfrm>
              <a:off x="6861152" y="2213477"/>
              <a:ext cx="0" cy="2221658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ZoneTexte 66">
              <a:extLst>
                <a:ext uri="{FF2B5EF4-FFF2-40B4-BE49-F238E27FC236}">
                  <a16:creationId xmlns:a16="http://schemas.microsoft.com/office/drawing/2014/main" id="{D50B52E4-97EA-4833-8AC1-D571869F4350}"/>
                </a:ext>
              </a:extLst>
            </p:cNvPr>
            <p:cNvSpPr txBox="1"/>
            <p:nvPr/>
          </p:nvSpPr>
          <p:spPr>
            <a:xfrm>
              <a:off x="4944065" y="2005376"/>
              <a:ext cx="13926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Serveur externe</a:t>
              </a:r>
            </a:p>
          </p:txBody>
        </p:sp>
        <p:sp>
          <p:nvSpPr>
            <p:cNvPr id="68" name="ZoneTexte 67">
              <a:extLst>
                <a:ext uri="{FF2B5EF4-FFF2-40B4-BE49-F238E27FC236}">
                  <a16:creationId xmlns:a16="http://schemas.microsoft.com/office/drawing/2014/main" id="{B384DA6D-0ECD-41D3-8833-39B7E688DBEA}"/>
                </a:ext>
              </a:extLst>
            </p:cNvPr>
            <p:cNvSpPr txBox="1"/>
            <p:nvPr/>
          </p:nvSpPr>
          <p:spPr>
            <a:xfrm>
              <a:off x="7284716" y="2012734"/>
              <a:ext cx="13926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Serveur interne</a:t>
              </a:r>
            </a:p>
          </p:txBody>
        </p:sp>
        <p:sp>
          <p:nvSpPr>
            <p:cNvPr id="69" name="ZoneTexte 68">
              <a:extLst>
                <a:ext uri="{FF2B5EF4-FFF2-40B4-BE49-F238E27FC236}">
                  <a16:creationId xmlns:a16="http://schemas.microsoft.com/office/drawing/2014/main" id="{CCB887B7-5D23-46A2-96E3-ABD308D6B70F}"/>
                </a:ext>
              </a:extLst>
            </p:cNvPr>
            <p:cNvSpPr txBox="1"/>
            <p:nvPr/>
          </p:nvSpPr>
          <p:spPr>
            <a:xfrm>
              <a:off x="7432387" y="2804733"/>
              <a:ext cx="1097280" cy="369332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err="1"/>
                <a:t>ISsubmit</a:t>
              </a:r>
              <a:endParaRPr lang="fr-FR" dirty="0"/>
            </a:p>
          </p:txBody>
        </p:sp>
        <p:sp>
          <p:nvSpPr>
            <p:cNvPr id="70" name="ZoneTexte 69">
              <a:extLst>
                <a:ext uri="{FF2B5EF4-FFF2-40B4-BE49-F238E27FC236}">
                  <a16:creationId xmlns:a16="http://schemas.microsoft.com/office/drawing/2014/main" id="{925F6DA8-FC39-4E54-A7F9-A364288C615B}"/>
                </a:ext>
              </a:extLst>
            </p:cNvPr>
            <p:cNvSpPr txBox="1"/>
            <p:nvPr/>
          </p:nvSpPr>
          <p:spPr>
            <a:xfrm>
              <a:off x="7432387" y="3697637"/>
              <a:ext cx="1097280" cy="369332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err="1"/>
                <a:t>ISfinder</a:t>
              </a:r>
              <a:endParaRPr lang="fr-FR" dirty="0"/>
            </a:p>
          </p:txBody>
        </p:sp>
        <p:sp>
          <p:nvSpPr>
            <p:cNvPr id="71" name="ZoneTexte 70">
              <a:extLst>
                <a:ext uri="{FF2B5EF4-FFF2-40B4-BE49-F238E27FC236}">
                  <a16:creationId xmlns:a16="http://schemas.microsoft.com/office/drawing/2014/main" id="{C1DCBE9C-4E05-4F71-BDAE-45E6D0F67AD2}"/>
                </a:ext>
              </a:extLst>
            </p:cNvPr>
            <p:cNvSpPr txBox="1"/>
            <p:nvPr/>
          </p:nvSpPr>
          <p:spPr>
            <a:xfrm>
              <a:off x="5112859" y="2804733"/>
              <a:ext cx="1097280" cy="369332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err="1"/>
                <a:t>ISfinder</a:t>
              </a:r>
              <a:endParaRPr lang="fr-FR" dirty="0"/>
            </a:p>
          </p:txBody>
        </p:sp>
        <p:cxnSp>
          <p:nvCxnSpPr>
            <p:cNvPr id="73" name="Connecteur droit avec flèche 72">
              <a:extLst>
                <a:ext uri="{FF2B5EF4-FFF2-40B4-BE49-F238E27FC236}">
                  <a16:creationId xmlns:a16="http://schemas.microsoft.com/office/drawing/2014/main" id="{6DC42700-12B6-4BD1-887D-1346C3538102}"/>
                </a:ext>
              </a:extLst>
            </p:cNvPr>
            <p:cNvCxnSpPr>
              <a:cxnSpLocks/>
            </p:cNvCxnSpPr>
            <p:nvPr/>
          </p:nvCxnSpPr>
          <p:spPr>
            <a:xfrm>
              <a:off x="6241044" y="2920836"/>
              <a:ext cx="1115664" cy="5378"/>
            </a:xfrm>
            <a:prstGeom prst="straightConnector1">
              <a:avLst/>
            </a:prstGeom>
            <a:ln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cteur droit avec flèche 74">
              <a:extLst>
                <a:ext uri="{FF2B5EF4-FFF2-40B4-BE49-F238E27FC236}">
                  <a16:creationId xmlns:a16="http://schemas.microsoft.com/office/drawing/2014/main" id="{A4B47A82-1FF2-417C-A496-ACDF6E39B7B1}"/>
                </a:ext>
              </a:extLst>
            </p:cNvPr>
            <p:cNvCxnSpPr/>
            <p:nvPr/>
          </p:nvCxnSpPr>
          <p:spPr>
            <a:xfrm>
              <a:off x="7981027" y="3188840"/>
              <a:ext cx="0" cy="510803"/>
            </a:xfrm>
            <a:prstGeom prst="straightConnector1">
              <a:avLst/>
            </a:prstGeom>
            <a:ln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avec flèche 75">
              <a:extLst>
                <a:ext uri="{FF2B5EF4-FFF2-40B4-BE49-F238E27FC236}">
                  <a16:creationId xmlns:a16="http://schemas.microsoft.com/office/drawing/2014/main" id="{27B60717-F00F-4D5F-961C-9619D9AE8FAA}"/>
                </a:ext>
              </a:extLst>
            </p:cNvPr>
            <p:cNvCxnSpPr>
              <a:cxnSpLocks/>
              <a:endCxn id="71" idx="3"/>
            </p:cNvCxnSpPr>
            <p:nvPr/>
          </p:nvCxnSpPr>
          <p:spPr>
            <a:xfrm flipH="1" flipV="1">
              <a:off x="6210139" y="2989399"/>
              <a:ext cx="1222248" cy="869256"/>
            </a:xfrm>
            <a:prstGeom prst="straightConnector1">
              <a:avLst/>
            </a:prstGeom>
            <a:ln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ZoneTexte 76">
              <a:extLst>
                <a:ext uri="{FF2B5EF4-FFF2-40B4-BE49-F238E27FC236}">
                  <a16:creationId xmlns:a16="http://schemas.microsoft.com/office/drawing/2014/main" id="{21E29A2B-332E-4ED4-8E82-A64F60A79F43}"/>
                </a:ext>
              </a:extLst>
            </p:cNvPr>
            <p:cNvSpPr txBox="1"/>
            <p:nvPr/>
          </p:nvSpPr>
          <p:spPr>
            <a:xfrm>
              <a:off x="6639280" y="2611256"/>
              <a:ext cx="2648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79" name="ZoneTexte 78">
              <a:extLst>
                <a:ext uri="{FF2B5EF4-FFF2-40B4-BE49-F238E27FC236}">
                  <a16:creationId xmlns:a16="http://schemas.microsoft.com/office/drawing/2014/main" id="{7B9BA657-73AE-4CBF-B82D-81AF77673C9F}"/>
                </a:ext>
              </a:extLst>
            </p:cNvPr>
            <p:cNvSpPr txBox="1"/>
            <p:nvPr/>
          </p:nvSpPr>
          <p:spPr>
            <a:xfrm>
              <a:off x="8533293" y="2578182"/>
              <a:ext cx="2648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80" name="ZoneTexte 79">
              <a:extLst>
                <a:ext uri="{FF2B5EF4-FFF2-40B4-BE49-F238E27FC236}">
                  <a16:creationId xmlns:a16="http://schemas.microsoft.com/office/drawing/2014/main" id="{26EFF9EE-035F-4EA1-92E7-CDBC8746867A}"/>
                </a:ext>
              </a:extLst>
            </p:cNvPr>
            <p:cNvSpPr txBox="1"/>
            <p:nvPr/>
          </p:nvSpPr>
          <p:spPr>
            <a:xfrm>
              <a:off x="7956851" y="3285527"/>
              <a:ext cx="2648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rgbClr val="002060"/>
                  </a:solidFill>
                </a:rPr>
                <a:t>3</a:t>
              </a:r>
            </a:p>
          </p:txBody>
        </p:sp>
        <p:sp>
          <p:nvSpPr>
            <p:cNvPr id="82" name="Flèche : courbe vers la droite 81">
              <a:extLst>
                <a:ext uri="{FF2B5EF4-FFF2-40B4-BE49-F238E27FC236}">
                  <a16:creationId xmlns:a16="http://schemas.microsoft.com/office/drawing/2014/main" id="{D39F6ABB-5BA9-4B57-BFC1-4C9E3F1820EA}"/>
                </a:ext>
              </a:extLst>
            </p:cNvPr>
            <p:cNvSpPr/>
            <p:nvPr/>
          </p:nvSpPr>
          <p:spPr>
            <a:xfrm flipH="1">
              <a:off x="8545446" y="2860878"/>
              <a:ext cx="349459" cy="369332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84" name="ZoneTexte 83">
              <a:extLst>
                <a:ext uri="{FF2B5EF4-FFF2-40B4-BE49-F238E27FC236}">
                  <a16:creationId xmlns:a16="http://schemas.microsoft.com/office/drawing/2014/main" id="{36EC0DB8-BFA3-49EF-A3B4-BCF44F72C7EB}"/>
                </a:ext>
              </a:extLst>
            </p:cNvPr>
            <p:cNvSpPr txBox="1"/>
            <p:nvPr/>
          </p:nvSpPr>
          <p:spPr>
            <a:xfrm>
              <a:off x="6584203" y="3350809"/>
              <a:ext cx="2648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rgbClr val="002060"/>
                  </a:solidFill>
                </a:rPr>
                <a:t>4</a:t>
              </a:r>
            </a:p>
          </p:txBody>
        </p: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EA0495DC-4F18-4797-AEB6-D417291848DF}"/>
              </a:ext>
            </a:extLst>
          </p:cNvPr>
          <p:cNvSpPr txBox="1"/>
          <p:nvPr/>
        </p:nvSpPr>
        <p:spPr>
          <a:xfrm>
            <a:off x="75681" y="4394670"/>
            <a:ext cx="461613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1- Soumission externe du site web la base interne </a:t>
            </a:r>
            <a:r>
              <a:rPr lang="fr-FR" sz="1000" dirty="0" err="1"/>
              <a:t>ISsubmit</a:t>
            </a:r>
            <a:endParaRPr lang="fr-FR" sz="1000" dirty="0"/>
          </a:p>
          <a:p>
            <a:r>
              <a:rPr lang="fr-FR" sz="1000" dirty="0"/>
              <a:t>	- des soumissions d’IS (</a:t>
            </a:r>
            <a:r>
              <a:rPr lang="fr-FR" sz="1000" b="1" dirty="0"/>
              <a:t>script </a:t>
            </a:r>
            <a:r>
              <a:rPr lang="fr-FR" sz="1000" b="1" dirty="0" err="1"/>
              <a:t>submission.php</a:t>
            </a:r>
            <a:r>
              <a:rPr lang="fr-FR" sz="1000" dirty="0"/>
              <a:t>)</a:t>
            </a:r>
          </a:p>
          <a:p>
            <a:r>
              <a:rPr lang="fr-FR" sz="1000" dirty="0"/>
              <a:t>	- des demandes de noms de séquences (script </a:t>
            </a:r>
            <a:r>
              <a:rPr lang="fr-FR" sz="1000" b="1" dirty="0" err="1"/>
              <a:t>request_name_form.php</a:t>
            </a:r>
            <a:r>
              <a:rPr lang="fr-FR" sz="1000" dirty="0"/>
              <a:t>)</a:t>
            </a:r>
          </a:p>
          <a:p>
            <a:endParaRPr lang="fr-FR" sz="1000" dirty="0"/>
          </a:p>
          <a:p>
            <a:r>
              <a:rPr lang="fr-FR" sz="1000" dirty="0"/>
              <a:t>2- Validation des séquences dans la base </a:t>
            </a:r>
            <a:r>
              <a:rPr lang="fr-FR" sz="1000" dirty="0" err="1"/>
              <a:t>ISsubmit</a:t>
            </a:r>
            <a:r>
              <a:rPr lang="fr-FR" sz="1000" dirty="0"/>
              <a:t> via un site </a:t>
            </a:r>
            <a:r>
              <a:rPr lang="fr-FR" sz="1000" dirty="0" err="1"/>
              <a:t>ISadmin</a:t>
            </a:r>
            <a:endParaRPr lang="fr-FR" sz="1000" dirty="0"/>
          </a:p>
          <a:p>
            <a:r>
              <a:rPr lang="fr-FR" sz="1000" dirty="0"/>
              <a:t>	- soit elles restent dans </a:t>
            </a:r>
            <a:r>
              <a:rPr lang="fr-FR" sz="1000" dirty="0" err="1"/>
              <a:t>ISsubmit</a:t>
            </a:r>
            <a:endParaRPr lang="fr-FR" sz="1000" dirty="0"/>
          </a:p>
          <a:p>
            <a:endParaRPr lang="fr-FR" sz="1000" dirty="0"/>
          </a:p>
          <a:p>
            <a:r>
              <a:rPr lang="fr-FR" sz="1000" dirty="0"/>
              <a:t>3- soit elles sont envoyées vers </a:t>
            </a:r>
            <a:r>
              <a:rPr lang="fr-FR" sz="1000" dirty="0" err="1"/>
              <a:t>ISfinder</a:t>
            </a:r>
            <a:r>
              <a:rPr lang="fr-FR" sz="1000" dirty="0"/>
              <a:t> </a:t>
            </a:r>
          </a:p>
          <a:p>
            <a:endParaRPr lang="fr-FR" sz="1000" dirty="0"/>
          </a:p>
          <a:p>
            <a:r>
              <a:rPr lang="fr-FR" sz="1000" dirty="0"/>
              <a:t>4- Réplication de la base interne sur le site web</a:t>
            </a:r>
          </a:p>
        </p:txBody>
      </p:sp>
    </p:spTree>
    <p:extLst>
      <p:ext uri="{BB962C8B-B14F-4D97-AF65-F5344CB8AC3E}">
        <p14:creationId xmlns:p14="http://schemas.microsoft.com/office/powerpoint/2010/main" val="68633475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</TotalTime>
  <Words>193</Words>
  <Application>Microsoft Office PowerPoint</Application>
  <PresentationFormat>Affichage à l'écran (4:3)</PresentationFormat>
  <Paragraphs>50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Patricia Siguier</dc:creator>
  <cp:lastModifiedBy>Patricia Siguier</cp:lastModifiedBy>
  <cp:revision>4</cp:revision>
  <dcterms:created xsi:type="dcterms:W3CDTF">2026-04-08T16:47:10Z</dcterms:created>
  <dcterms:modified xsi:type="dcterms:W3CDTF">2026-04-08T17:18:01Z</dcterms:modified>
</cp:coreProperties>
</file>